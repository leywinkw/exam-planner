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</p:sldIdLst>
  <p:notesMasterIdLst>
    <p:notesMasterId r:id="rId2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notesMaster" Target="notesMasters/notesMaster1.xml"/><Relationship Id="rId21" Type="http://schemas.openxmlformats.org/officeDocument/2006/relationships/presProps" Target="presProps.xml"/><Relationship Id="rId22" Type="http://schemas.openxmlformats.org/officeDocument/2006/relationships/viewProps" Target="viewProps.xml"/><Relationship Id="rId23" Type="http://schemas.openxmlformats.org/officeDocument/2006/relationships/theme" Target="theme/theme1.xml"/><Relationship Id="rId2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Здравствуйте! Мы — Павел Дибривный и Георгий Салазде, группы ИСТ04 и ИСТ03. Наш проект номер 60: планировщик подготовки к экзаменам. Программа на Python сама раскладывает темы по дням, а если вы отстали, пересчитывает план.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По заданию человек вводит экзамены, даты и темы со сложностью, а программа решает, что учить каждый день, и пересчитывает план, когда он отстаёт. Результат нужно показать на диаграмме Ганта или в календаре нагрузки. Мы сделали и то и другое. Обязательные требования курса, то есть ошибки, словари и ООП, выполнены, а визуализацию взяли четвёртым критерием.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Окно и формы сделаны на tkinter, диаграмма нарисована на его Canvas. Данные лежат в CSV-файлах. историю изменений ведёт git. Код лежит на GitHub.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Код поделён на две части. В папке planner вся логика: классы экзамена и темы, планировщик, оценка сложности, работа с файлами. В папке ui окно. Данные хранятся в трёх CSV. Логика про окно ничего не знает, поэтому её можно менять отдельно.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Что умеет программа. Добавлять экзамены и контрольные с датами. Выбирать темы из списков или вписывать свои, причём можно сразу несколько. Сложность подбирается по названию, её можно поправить. План учитывает лимит часов в день и раскладывает занятия равномерно до самого экзамена. Если вы отстали, есть кнопка «Перепланировать». Всё видно в календаре и на диаграмме Ганта, и всё сохраняется в файлы.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Правила простые. Сложность от одного до пяти равна числу часов на тему. Часы события делятся поровну на все дни до экзамена: если тем мало, занятия идут через день-два, а не в первый же день. В день не больше четырёх часов и не больше двух часов одной темы. Первыми идут сложные темы ближайшего экзамена. Накануне экзамена только повторение, а в сам день ничего.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Теперь про требования курса. Ошибки: проверки ввода выбрасывают свои исключения, окно ловит их в try/except и показывает понятное сообщение, поэтому программа не вылетает. Словари: план у нас словарь «дата → список занятий», и оценка сложности тоже на словарях. ООП: классы Exam, Topic, Planner и Storage, а окно и диаграмма тоже классы; свои ошибки наследуются от одного общего класса.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Начнём с кода. Вот наши собственные исключения: общий класс PlannerError и два потомка, ошибка ввода и ошибка файлов. А ниже функция проверки сложности: если ввод не число или выходит за границы от одного до пяти, она выбрасывает понятную ошибку, а не падает.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Ловим ошибки в двух местах. В окне любое действие пользователя выполняется внутри try, и если случилась наша ошибка, показываем сообщение. А при чтении файлов любая проблема приводит к копии файла с расширением bak и пустому плану, программа не вылетает.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Теперь словари. Для автоподбора сложности у нас два словаря: в первом основа названия предмета и базовая сложность, во втором основы слов темы и поправки. Функция ищет предмет в первом словаре и прибавляет поправки из второго.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Сам план тоже словарь: ключ — дата, значение — список занятий. Рядом второй словарь load считает, сколько часов уже занято в каждый день, и благодаря ему мы не превышаем лимит.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Теперь ООП. Класс Exam описывает экзамен или контрольную, класс Topic — тему. Данные проверяются прямо при создании объекта, поэтому некорректный экзамен или тему создать нельзя.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Класс Planner собирает всё вместе: хранит словари экзаменов, тем и плана, а методы add_exam, add_topic, build_plan и replan работают с ними. Окно только вызывает эти методы.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Первый вид визуализации, календарь. Цвет клетки показывает, сколько часов стоит на этот день: чем ближе к лимиту, тем темнее. Экзамены красные, контрольные фиолетовые. Если нажать на день, внизу появится список тем и часов.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Второй вид, диаграмма Ганта. Каждая тема это полоска от первого до последнего дня занятий, полоски сгруппированы по экзаменам. Вертикальные линии показывают даты экзаменов, пунктирная линия — сегодня. Выполненные темы и те, что не успеть, вынесены в отдельные строки.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Теперь короткий сценарий. Сначала окно пустое, в полях подсказки. Темы можно добавлять пачкой через отдельное окно. А если часов в день мало, например два, календарь заполняется почти целиком, на диаграмме Ганта появляются красные строки «не помещается до экзамена», и внизу программа предупреждает о темах под угрозой.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Здесь примеры ввода и вывода. Пустое название, неверная дата, дата в прошлом, повтор: на каждый случай программа пишет понятное сообщение и продолжает работать. Для темы «Введение в анализ» по математике сложность подобралась сама и равна двум. Справа окно добавления нескольких тем и сообщение об ошибке.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Итог: программа работает, с окном, календарём и диаграммой Ганта, данные сохраняются в файлы. Дальше можно добавить редактирование записей, напоминания и экспорт в календарь. Код проекта выложен на GitHub, ссылка на последнем слайде. Спасибо за внимание, будем рады вопросам.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">
    <p:bg>
      <p:bgPr>
        <a:solidFill>
          <a:srgbClr val="1E1B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4F6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008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Планировщик подготовки к экзаменам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400800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4748B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400800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4748B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png"/><Relationship Id="rId3" Type="http://schemas.openxmlformats.org/officeDocument/2006/relationships/image" Target="../media/image-16-3.png"/><Relationship Id="rId4" Type="http://schemas.openxmlformats.org/officeDocument/2006/relationships/image" Target="../media/image-16-4.png"/><Relationship Id="rId5" Type="http://schemas.openxmlformats.org/officeDocument/2006/relationships/slideLayout" Target="../slideLayouts/slideLayout3.xml"/><Relationship Id="rId6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1554480"/>
            <a:ext cx="1069848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5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Планировщик подготовки</a:t>
            </a:r>
            <a:endParaRPr lang="en-US" sz="5400" dirty="0"/>
          </a:p>
          <a:p>
            <a:pPr indent="0" marL="0">
              <a:buNone/>
            </a:pPr>
            <a:r>
              <a:rPr lang="en-US" sz="5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к экзаменам</a:t>
            </a:r>
            <a:endParaRPr lang="en-US" sz="54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3840480"/>
            <a:ext cx="10698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C7D2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Проект №60 · итоговый проект по Python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5669280"/>
            <a:ext cx="10698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Дибривный Павел (ИСТ04), Салазде Георгий (ИСТ03)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731520" y="475488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E0E7FF"/>
          </a:solidFill>
          <a:ln w="12700">
            <a:solidFill>
              <a:srgbClr val="E0E7FF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298448" y="475488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BBF7D0"/>
          </a:solidFill>
          <a:ln w="12700">
            <a:solidFill>
              <a:srgbClr val="BBF7D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865376" y="475488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FDE68A"/>
          </a:solidFill>
          <a:ln w="12700">
            <a:solidFill>
              <a:srgbClr val="FDE68A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2432304" y="475488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FDBA74"/>
          </a:solidFill>
          <a:ln w="12700">
            <a:solidFill>
              <a:srgbClr val="FDBA74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999232" y="475488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F87171"/>
          </a:solidFill>
          <a:ln w="12700">
            <a:solidFill>
              <a:srgbClr val="F87171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3566160" y="475488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A78BFA"/>
          </a:solidFill>
          <a:ln w="12700">
            <a:solidFill>
              <a:srgbClr val="A78BFA"/>
            </a:solidFill>
            <a:prstDash val="solid"/>
          </a:ln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E1B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Задача</a:t>
            </a:r>
            <a:endParaRPr lang="en-US" sz="3400" dirty="0"/>
          </a:p>
        </p:txBody>
      </p:sp>
      <p:sp>
        <p:nvSpPr>
          <p:cNvPr id="4" name="Text 1"/>
          <p:cNvSpPr txBox="1"/>
          <p:nvPr/>
        </p:nvSpPr>
        <p:spPr>
          <a:xfrm>
            <a:off x="548640" y="1371600"/>
            <a:ext cx="11064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Студент вводит экзамены, даты и темы со сложностью. Программа решает, что учить каждый день, и пересчитывает план, когда студент отстаёт.</a:t>
            </a:r>
            <a:endParaRPr lang="en-US" sz="2000" dirty="0"/>
          </a:p>
        </p:txBody>
      </p:sp>
      <p:sp>
        <p:nvSpPr>
          <p:cNvPr id="5" name="Shape 2"/>
          <p:cNvSpPr/>
          <p:nvPr/>
        </p:nvSpPr>
        <p:spPr>
          <a:xfrm>
            <a:off x="548640" y="2560320"/>
            <a:ext cx="3566160" cy="210312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 w="9525">
            <a:solidFill>
              <a:srgbClr val="DBE3EE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8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777240" y="2788920"/>
            <a:ext cx="548640" cy="548640"/>
          </a:xfrm>
          <a:prstGeom prst="ellipse">
            <a:avLst/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777240" y="278892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8" name="Text 5"/>
          <p:cNvSpPr txBox="1"/>
          <p:nvPr/>
        </p:nvSpPr>
        <p:spPr>
          <a:xfrm>
            <a:off x="1463040" y="2788920"/>
            <a:ext cx="2468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E1B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Ввод</a:t>
            </a:r>
            <a:endParaRPr lang="en-US" sz="2200" dirty="0"/>
          </a:p>
        </p:txBody>
      </p:sp>
      <p:sp>
        <p:nvSpPr>
          <p:cNvPr id="9" name="Text 6"/>
          <p:cNvSpPr txBox="1"/>
          <p:nvPr/>
        </p:nvSpPr>
        <p:spPr>
          <a:xfrm>
            <a:off x="777240" y="3520440"/>
            <a:ext cx="31089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Экзамены и контрольные с датами, темы со сложностью</a:t>
            </a:r>
            <a:endParaRPr lang="en-US" sz="1600" dirty="0"/>
          </a:p>
        </p:txBody>
      </p:sp>
      <p:sp>
        <p:nvSpPr>
          <p:cNvPr id="10" name="Shape 7"/>
          <p:cNvSpPr/>
          <p:nvPr/>
        </p:nvSpPr>
        <p:spPr>
          <a:xfrm>
            <a:off x="4297680" y="2560320"/>
            <a:ext cx="3566160" cy="210312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 w="9525">
            <a:solidFill>
              <a:srgbClr val="DBE3EE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8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4526280" y="2788920"/>
            <a:ext cx="548640" cy="548640"/>
          </a:xfrm>
          <a:prstGeom prst="ellipse">
            <a:avLst/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4526280" y="278892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13" name="Text 10"/>
          <p:cNvSpPr txBox="1"/>
          <p:nvPr/>
        </p:nvSpPr>
        <p:spPr>
          <a:xfrm>
            <a:off x="5212080" y="2788920"/>
            <a:ext cx="2468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E1B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Распределение</a:t>
            </a:r>
            <a:endParaRPr lang="en-US" sz="2200" dirty="0"/>
          </a:p>
        </p:txBody>
      </p:sp>
      <p:sp>
        <p:nvSpPr>
          <p:cNvPr id="14" name="Text 11"/>
          <p:cNvSpPr txBox="1"/>
          <p:nvPr/>
        </p:nvSpPr>
        <p:spPr>
          <a:xfrm>
            <a:off x="4526280" y="3520440"/>
            <a:ext cx="31089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Темы по дням с лимитом часов, сложные раньше</a:t>
            </a:r>
            <a:endParaRPr lang="en-US" sz="1600" dirty="0"/>
          </a:p>
        </p:txBody>
      </p:sp>
      <p:sp>
        <p:nvSpPr>
          <p:cNvPr id="15" name="Shape 12"/>
          <p:cNvSpPr/>
          <p:nvPr/>
        </p:nvSpPr>
        <p:spPr>
          <a:xfrm>
            <a:off x="8046720" y="2560320"/>
            <a:ext cx="3566160" cy="210312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 w="9525">
            <a:solidFill>
              <a:srgbClr val="DBE3EE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8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8275320" y="2788920"/>
            <a:ext cx="548640" cy="548640"/>
          </a:xfrm>
          <a:prstGeom prst="ellipse">
            <a:avLst/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8275320" y="278892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18" name="Text 15"/>
          <p:cNvSpPr txBox="1"/>
          <p:nvPr/>
        </p:nvSpPr>
        <p:spPr>
          <a:xfrm>
            <a:off x="8961120" y="2788920"/>
            <a:ext cx="2468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E1B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Пересчёт</a:t>
            </a:r>
            <a:endParaRPr lang="en-US" sz="2200" dirty="0"/>
          </a:p>
        </p:txBody>
      </p:sp>
      <p:sp>
        <p:nvSpPr>
          <p:cNvPr id="19" name="Text 16"/>
          <p:cNvSpPr txBox="1"/>
          <p:nvPr/>
        </p:nvSpPr>
        <p:spPr>
          <a:xfrm>
            <a:off x="8275320" y="3520440"/>
            <a:ext cx="31089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Отстал: невыполненное переезжает вперёд, а о рисках программа предупреждает</a:t>
            </a:r>
            <a:endParaRPr lang="en-US" sz="1600" dirty="0"/>
          </a:p>
        </p:txBody>
      </p:sp>
      <p:sp>
        <p:nvSpPr>
          <p:cNvPr id="20" name="Text 17"/>
          <p:cNvSpPr txBox="1"/>
          <p:nvPr/>
        </p:nvSpPr>
        <p:spPr>
          <a:xfrm>
            <a:off x="548640" y="493776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Требования курса</a:t>
            </a:r>
            <a:endParaRPr lang="en-US" sz="1400" dirty="0"/>
          </a:p>
        </p:txBody>
      </p:sp>
      <p:sp>
        <p:nvSpPr>
          <p:cNvPr id="21" name="Shape 18"/>
          <p:cNvSpPr/>
          <p:nvPr/>
        </p:nvSpPr>
        <p:spPr>
          <a:xfrm>
            <a:off x="548640" y="5394960"/>
            <a:ext cx="2651760" cy="594360"/>
          </a:xfrm>
          <a:prstGeom prst="roundRect">
            <a:avLst>
              <a:gd name="adj" fmla="val 46154"/>
            </a:avLst>
          </a:prstGeom>
          <a:solidFill>
            <a:srgbClr val="E0E7FF"/>
          </a:solidFill>
          <a:ln w="12700">
            <a:solidFill>
              <a:srgbClr val="E0E7FF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548640" y="5394960"/>
            <a:ext cx="26517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4F46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Обработка ошибок</a:t>
            </a:r>
            <a:endParaRPr lang="en-US" sz="1800" dirty="0"/>
          </a:p>
        </p:txBody>
      </p:sp>
      <p:sp>
        <p:nvSpPr>
          <p:cNvPr id="23" name="Shape 20"/>
          <p:cNvSpPr/>
          <p:nvPr/>
        </p:nvSpPr>
        <p:spPr>
          <a:xfrm>
            <a:off x="3383280" y="5394960"/>
            <a:ext cx="2651760" cy="594360"/>
          </a:xfrm>
          <a:prstGeom prst="roundRect">
            <a:avLst>
              <a:gd name="adj" fmla="val 46154"/>
            </a:avLst>
          </a:prstGeom>
          <a:solidFill>
            <a:srgbClr val="E0E7FF"/>
          </a:solidFill>
          <a:ln w="12700">
            <a:solidFill>
              <a:srgbClr val="E0E7FF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3383280" y="5394960"/>
            <a:ext cx="26517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4F46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Словари</a:t>
            </a:r>
            <a:endParaRPr lang="en-US" sz="1800" dirty="0"/>
          </a:p>
        </p:txBody>
      </p:sp>
      <p:sp>
        <p:nvSpPr>
          <p:cNvPr id="25" name="Shape 22"/>
          <p:cNvSpPr/>
          <p:nvPr/>
        </p:nvSpPr>
        <p:spPr>
          <a:xfrm>
            <a:off x="6217920" y="5394960"/>
            <a:ext cx="2651760" cy="594360"/>
          </a:xfrm>
          <a:prstGeom prst="roundRect">
            <a:avLst>
              <a:gd name="adj" fmla="val 46154"/>
            </a:avLst>
          </a:prstGeom>
          <a:solidFill>
            <a:srgbClr val="E0E7FF"/>
          </a:solidFill>
          <a:ln w="12700">
            <a:solidFill>
              <a:srgbClr val="E0E7FF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6217920" y="5394960"/>
            <a:ext cx="26517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4F46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ООП</a:t>
            </a:r>
            <a:endParaRPr lang="en-US" sz="1800" dirty="0"/>
          </a:p>
        </p:txBody>
      </p:sp>
      <p:sp>
        <p:nvSpPr>
          <p:cNvPr id="27" name="Shape 24"/>
          <p:cNvSpPr/>
          <p:nvPr/>
        </p:nvSpPr>
        <p:spPr>
          <a:xfrm>
            <a:off x="9052560" y="5394960"/>
            <a:ext cx="2651760" cy="594360"/>
          </a:xfrm>
          <a:prstGeom prst="roundRect">
            <a:avLst>
              <a:gd name="adj" fmla="val 46154"/>
            </a:avLst>
          </a:prstGeom>
          <a:solidFill>
            <a:srgbClr val="E0E7FF"/>
          </a:solidFill>
          <a:ln w="12700">
            <a:solidFill>
              <a:srgbClr val="E0E7FF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9052560" y="5394960"/>
            <a:ext cx="26517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4F46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Визуализация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400800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4748B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E1B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Использованные инструменты</a:t>
            </a:r>
            <a:endParaRPr lang="en-US" sz="3400" dirty="0"/>
          </a:p>
        </p:txBody>
      </p:sp>
      <p:sp>
        <p:nvSpPr>
          <p:cNvPr id="4" name="Shape 1"/>
          <p:cNvSpPr/>
          <p:nvPr/>
        </p:nvSpPr>
        <p:spPr>
          <a:xfrm>
            <a:off x="548640" y="1554480"/>
            <a:ext cx="2624328" cy="1965960"/>
          </a:xfrm>
          <a:prstGeom prst="roundRect">
            <a:avLst>
              <a:gd name="adj" fmla="val 5581"/>
            </a:avLst>
          </a:prstGeom>
          <a:solidFill>
            <a:srgbClr val="FFFFFF"/>
          </a:solidFill>
          <a:ln w="9525">
            <a:solidFill>
              <a:srgbClr val="DBE3EE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8000"/>
              </a:srgbClr>
            </a:outerShdw>
          </a:effectLst>
        </p:spPr>
      </p:sp>
      <p:sp>
        <p:nvSpPr>
          <p:cNvPr id="5" name="Text 2"/>
          <p:cNvSpPr txBox="1"/>
          <p:nvPr/>
        </p:nvSpPr>
        <p:spPr>
          <a:xfrm>
            <a:off x="731520" y="1828800"/>
            <a:ext cx="225856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1E1B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Python 3</a:t>
            </a:r>
            <a:endParaRPr lang="en-US" sz="2200" dirty="0"/>
          </a:p>
        </p:txBody>
      </p:sp>
      <p:sp>
        <p:nvSpPr>
          <p:cNvPr id="6" name="Text 3"/>
          <p:cNvSpPr txBox="1"/>
          <p:nvPr/>
        </p:nvSpPr>
        <p:spPr>
          <a:xfrm>
            <a:off x="731520" y="2743200"/>
            <a:ext cx="225856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язык программирования</a:t>
            </a:r>
            <a:endParaRPr lang="en-US" sz="1600" dirty="0"/>
          </a:p>
        </p:txBody>
      </p:sp>
      <p:sp>
        <p:nvSpPr>
          <p:cNvPr id="7" name="Shape 4"/>
          <p:cNvSpPr/>
          <p:nvPr/>
        </p:nvSpPr>
        <p:spPr>
          <a:xfrm>
            <a:off x="3355848" y="1554480"/>
            <a:ext cx="2624328" cy="1965960"/>
          </a:xfrm>
          <a:prstGeom prst="roundRect">
            <a:avLst>
              <a:gd name="adj" fmla="val 5581"/>
            </a:avLst>
          </a:prstGeom>
          <a:solidFill>
            <a:srgbClr val="FFFFFF"/>
          </a:solidFill>
          <a:ln w="9525">
            <a:solidFill>
              <a:srgbClr val="DBE3EE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8000"/>
              </a:srgbClr>
            </a:outerShdw>
          </a:effectLst>
        </p:spPr>
      </p:sp>
      <p:sp>
        <p:nvSpPr>
          <p:cNvPr id="8" name="Text 5"/>
          <p:cNvSpPr txBox="1"/>
          <p:nvPr/>
        </p:nvSpPr>
        <p:spPr>
          <a:xfrm>
            <a:off x="3538728" y="1828800"/>
            <a:ext cx="225856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1E1B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tkinter + ttk</a:t>
            </a:r>
            <a:endParaRPr lang="en-US" sz="2200" dirty="0"/>
          </a:p>
        </p:txBody>
      </p:sp>
      <p:sp>
        <p:nvSpPr>
          <p:cNvPr id="9" name="Text 6"/>
          <p:cNvSpPr txBox="1"/>
          <p:nvPr/>
        </p:nvSpPr>
        <p:spPr>
          <a:xfrm>
            <a:off x="3538728" y="2743200"/>
            <a:ext cx="225856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окно, формы, списки, вкладки</a:t>
            </a:r>
            <a:endParaRPr lang="en-US" sz="1600" dirty="0"/>
          </a:p>
        </p:txBody>
      </p:sp>
      <p:sp>
        <p:nvSpPr>
          <p:cNvPr id="10" name="Shape 7"/>
          <p:cNvSpPr/>
          <p:nvPr/>
        </p:nvSpPr>
        <p:spPr>
          <a:xfrm>
            <a:off x="6163056" y="1554480"/>
            <a:ext cx="2624328" cy="1965960"/>
          </a:xfrm>
          <a:prstGeom prst="roundRect">
            <a:avLst>
              <a:gd name="adj" fmla="val 5581"/>
            </a:avLst>
          </a:prstGeom>
          <a:solidFill>
            <a:srgbClr val="FFFFFF"/>
          </a:solidFill>
          <a:ln w="9525">
            <a:solidFill>
              <a:srgbClr val="DBE3EE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8000"/>
              </a:srgbClr>
            </a:outerShdw>
          </a:effectLst>
        </p:spPr>
      </p:sp>
      <p:sp>
        <p:nvSpPr>
          <p:cNvPr id="11" name="Text 8"/>
          <p:cNvSpPr txBox="1"/>
          <p:nvPr/>
        </p:nvSpPr>
        <p:spPr>
          <a:xfrm>
            <a:off x="6345936" y="1828800"/>
            <a:ext cx="225856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1E1B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tkinter Canvas</a:t>
            </a:r>
            <a:endParaRPr lang="en-US" sz="2200" dirty="0"/>
          </a:p>
        </p:txBody>
      </p:sp>
      <p:sp>
        <p:nvSpPr>
          <p:cNvPr id="12" name="Text 9"/>
          <p:cNvSpPr txBox="1"/>
          <p:nvPr/>
        </p:nvSpPr>
        <p:spPr>
          <a:xfrm>
            <a:off x="6345936" y="2743200"/>
            <a:ext cx="225856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диаграмма Ганта</a:t>
            </a:r>
            <a:endParaRPr lang="en-US" sz="1600" dirty="0"/>
          </a:p>
        </p:txBody>
      </p:sp>
      <p:sp>
        <p:nvSpPr>
          <p:cNvPr id="13" name="Shape 10"/>
          <p:cNvSpPr/>
          <p:nvPr/>
        </p:nvSpPr>
        <p:spPr>
          <a:xfrm>
            <a:off x="8970264" y="1554480"/>
            <a:ext cx="2624328" cy="1965960"/>
          </a:xfrm>
          <a:prstGeom prst="roundRect">
            <a:avLst>
              <a:gd name="adj" fmla="val 5581"/>
            </a:avLst>
          </a:prstGeom>
          <a:solidFill>
            <a:srgbClr val="FFFFFF"/>
          </a:solidFill>
          <a:ln w="9525">
            <a:solidFill>
              <a:srgbClr val="DBE3EE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8000"/>
              </a:srgbClr>
            </a:outerShdw>
          </a:effectLst>
        </p:spPr>
      </p:sp>
      <p:sp>
        <p:nvSpPr>
          <p:cNvPr id="14" name="Text 11"/>
          <p:cNvSpPr txBox="1"/>
          <p:nvPr/>
        </p:nvSpPr>
        <p:spPr>
          <a:xfrm>
            <a:off x="9153144" y="1828800"/>
            <a:ext cx="225856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1E1B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csv, pathlib</a:t>
            </a:r>
            <a:endParaRPr lang="en-US" sz="2200" dirty="0"/>
          </a:p>
        </p:txBody>
      </p:sp>
      <p:sp>
        <p:nvSpPr>
          <p:cNvPr id="15" name="Text 12"/>
          <p:cNvSpPr txBox="1"/>
          <p:nvPr/>
        </p:nvSpPr>
        <p:spPr>
          <a:xfrm>
            <a:off x="9153144" y="2743200"/>
            <a:ext cx="225856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хранение данных в файлах</a:t>
            </a:r>
            <a:endParaRPr lang="en-US" sz="1600" dirty="0"/>
          </a:p>
        </p:txBody>
      </p:sp>
      <p:sp>
        <p:nvSpPr>
          <p:cNvPr id="16" name="Shape 13"/>
          <p:cNvSpPr/>
          <p:nvPr/>
        </p:nvSpPr>
        <p:spPr>
          <a:xfrm>
            <a:off x="548640" y="3794760"/>
            <a:ext cx="2624328" cy="1965960"/>
          </a:xfrm>
          <a:prstGeom prst="roundRect">
            <a:avLst>
              <a:gd name="adj" fmla="val 5581"/>
            </a:avLst>
          </a:prstGeom>
          <a:solidFill>
            <a:srgbClr val="FFFFFF"/>
          </a:solidFill>
          <a:ln w="9525">
            <a:solidFill>
              <a:srgbClr val="DBE3EE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8000"/>
              </a:srgbClr>
            </a:outerShdw>
          </a:effectLst>
        </p:spPr>
      </p:sp>
      <p:sp>
        <p:nvSpPr>
          <p:cNvPr id="17" name="Text 14"/>
          <p:cNvSpPr txBox="1"/>
          <p:nvPr/>
        </p:nvSpPr>
        <p:spPr>
          <a:xfrm>
            <a:off x="731520" y="4069080"/>
            <a:ext cx="225856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1E1B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datetime, calendar</a:t>
            </a:r>
            <a:endParaRPr lang="en-US" sz="2200" dirty="0"/>
          </a:p>
        </p:txBody>
      </p:sp>
      <p:sp>
        <p:nvSpPr>
          <p:cNvPr id="18" name="Text 15"/>
          <p:cNvSpPr txBox="1"/>
          <p:nvPr/>
        </p:nvSpPr>
        <p:spPr>
          <a:xfrm>
            <a:off x="731520" y="4983480"/>
            <a:ext cx="225856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даты и календарь месяца</a:t>
            </a:r>
            <a:endParaRPr lang="en-US" sz="1600" dirty="0"/>
          </a:p>
        </p:txBody>
      </p:sp>
      <p:sp>
        <p:nvSpPr>
          <p:cNvPr id="19" name="Shape 16"/>
          <p:cNvSpPr/>
          <p:nvPr/>
        </p:nvSpPr>
        <p:spPr>
          <a:xfrm>
            <a:off x="3355848" y="3794760"/>
            <a:ext cx="2624328" cy="1965960"/>
          </a:xfrm>
          <a:prstGeom prst="roundRect">
            <a:avLst>
              <a:gd name="adj" fmla="val 5581"/>
            </a:avLst>
          </a:prstGeom>
          <a:solidFill>
            <a:srgbClr val="FFFFFF"/>
          </a:solidFill>
          <a:ln w="9525">
            <a:solidFill>
              <a:srgbClr val="DBE3EE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8000"/>
              </a:srgbClr>
            </a:outerShdw>
          </a:effectLst>
        </p:spPr>
      </p:sp>
      <p:sp>
        <p:nvSpPr>
          <p:cNvPr id="20" name="Text 17"/>
          <p:cNvSpPr txBox="1"/>
          <p:nvPr/>
        </p:nvSpPr>
        <p:spPr>
          <a:xfrm>
            <a:off x="3538728" y="4069080"/>
            <a:ext cx="225856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1E1B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git</a:t>
            </a:r>
            <a:endParaRPr lang="en-US" sz="2200" dirty="0"/>
          </a:p>
        </p:txBody>
      </p:sp>
      <p:sp>
        <p:nvSpPr>
          <p:cNvPr id="21" name="Text 18"/>
          <p:cNvSpPr txBox="1"/>
          <p:nvPr/>
        </p:nvSpPr>
        <p:spPr>
          <a:xfrm>
            <a:off x="3538728" y="4983480"/>
            <a:ext cx="225856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история версий проекта</a:t>
            </a:r>
            <a:endParaRPr lang="en-US" sz="1600" dirty="0"/>
          </a:p>
        </p:txBody>
      </p:sp>
      <p:sp>
        <p:nvSpPr>
          <p:cNvPr id="22" name="Shape 19"/>
          <p:cNvSpPr/>
          <p:nvPr/>
        </p:nvSpPr>
        <p:spPr>
          <a:xfrm>
            <a:off x="6163056" y="3794760"/>
            <a:ext cx="2624328" cy="1965960"/>
          </a:xfrm>
          <a:prstGeom prst="roundRect">
            <a:avLst>
              <a:gd name="adj" fmla="val 5581"/>
            </a:avLst>
          </a:prstGeom>
          <a:solidFill>
            <a:srgbClr val="FFFFFF"/>
          </a:solidFill>
          <a:ln w="9525">
            <a:solidFill>
              <a:srgbClr val="DBE3EE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8000"/>
              </a:srgbClr>
            </a:outerShdw>
          </a:effectLst>
        </p:spPr>
      </p:sp>
      <p:sp>
        <p:nvSpPr>
          <p:cNvPr id="23" name="Text 20"/>
          <p:cNvSpPr txBox="1"/>
          <p:nvPr/>
        </p:nvSpPr>
        <p:spPr>
          <a:xfrm>
            <a:off x="6345936" y="4069080"/>
            <a:ext cx="225856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1E1B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GitHub</a:t>
            </a:r>
            <a:endParaRPr lang="en-US" sz="2200" dirty="0"/>
          </a:p>
        </p:txBody>
      </p:sp>
      <p:sp>
        <p:nvSpPr>
          <p:cNvPr id="24" name="Text 21"/>
          <p:cNvSpPr txBox="1"/>
          <p:nvPr/>
        </p:nvSpPr>
        <p:spPr>
          <a:xfrm>
            <a:off x="6345936" y="4983480"/>
            <a:ext cx="225856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код проекта: github.com/leywinkw/exam-planner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400800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4748B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E1B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Структура проекта</a:t>
            </a:r>
            <a:endParaRPr lang="en-US" sz="3400" dirty="0"/>
          </a:p>
        </p:txBody>
      </p:sp>
      <p:sp>
        <p:nvSpPr>
          <p:cNvPr id="4" name="Shape 1"/>
          <p:cNvSpPr/>
          <p:nvPr/>
        </p:nvSpPr>
        <p:spPr>
          <a:xfrm>
            <a:off x="548640" y="1463040"/>
            <a:ext cx="3657600" cy="393192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9525">
            <a:solidFill>
              <a:srgbClr val="DBE3EE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8000"/>
              </a:srgbClr>
            </a:outerShdw>
          </a:effectLst>
        </p:spPr>
      </p:sp>
      <p:sp>
        <p:nvSpPr>
          <p:cNvPr id="5" name="Text 2"/>
          <p:cNvSpPr txBox="1"/>
          <p:nvPr/>
        </p:nvSpPr>
        <p:spPr>
          <a:xfrm>
            <a:off x="777240" y="1645920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E1B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ui/ — окно</a:t>
            </a:r>
            <a:endParaRPr lang="en-US" sz="2200" dirty="0"/>
          </a:p>
        </p:txBody>
      </p:sp>
      <p:sp>
        <p:nvSpPr>
          <p:cNvPr id="6" name="Text 3"/>
          <p:cNvSpPr txBox="1"/>
          <p:nvPr/>
        </p:nvSpPr>
        <p:spPr>
          <a:xfrm>
            <a:off x="777240" y="2240280"/>
            <a:ext cx="320040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app.py      главное окно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gantt.py    диаграмма Ганта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dialogs.py  «Несколько тем»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widgets.py  подсказки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theme.py    цвета и стили</a:t>
            </a:r>
            <a:endParaRPr lang="en-US" sz="1400" dirty="0"/>
          </a:p>
        </p:txBody>
      </p:sp>
      <p:sp>
        <p:nvSpPr>
          <p:cNvPr id="7" name="Shape 4"/>
          <p:cNvSpPr/>
          <p:nvPr/>
        </p:nvSpPr>
        <p:spPr>
          <a:xfrm>
            <a:off x="4709160" y="1463040"/>
            <a:ext cx="3931920" cy="3931920"/>
          </a:xfrm>
          <a:prstGeom prst="roundRect">
            <a:avLst>
              <a:gd name="adj" fmla="val 2791"/>
            </a:avLst>
          </a:prstGeom>
          <a:solidFill>
            <a:srgbClr val="FFFFFF"/>
          </a:solidFill>
          <a:ln w="9525">
            <a:solidFill>
              <a:srgbClr val="DBE3EE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8000"/>
              </a:srgbClr>
            </a:outerShdw>
          </a:effectLst>
        </p:spPr>
      </p:sp>
      <p:sp>
        <p:nvSpPr>
          <p:cNvPr id="8" name="Text 5"/>
          <p:cNvSpPr txBox="1"/>
          <p:nvPr/>
        </p:nvSpPr>
        <p:spPr>
          <a:xfrm>
            <a:off x="4937760" y="1645920"/>
            <a:ext cx="3474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E1B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planner/ — логика</a:t>
            </a:r>
            <a:endParaRPr lang="en-US" sz="2200" dirty="0"/>
          </a:p>
        </p:txBody>
      </p:sp>
      <p:sp>
        <p:nvSpPr>
          <p:cNvPr id="9" name="Text 6"/>
          <p:cNvSpPr txBox="1"/>
          <p:nvPr/>
        </p:nvSpPr>
        <p:spPr>
          <a:xfrm>
            <a:off x="4937760" y="2240280"/>
            <a:ext cx="347472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models.py     Exam, Topic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scheduler.py  Planner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estimator.py  сложность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catalog.py    предметы, темы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storage.py    CSV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errors.py     свои ошибки</a:t>
            </a:r>
            <a:endParaRPr lang="en-US" sz="1400" dirty="0"/>
          </a:p>
        </p:txBody>
      </p:sp>
      <p:sp>
        <p:nvSpPr>
          <p:cNvPr id="10" name="Shape 7"/>
          <p:cNvSpPr/>
          <p:nvPr/>
        </p:nvSpPr>
        <p:spPr>
          <a:xfrm>
            <a:off x="9144000" y="1463040"/>
            <a:ext cx="2496312" cy="3931920"/>
          </a:xfrm>
          <a:prstGeom prst="roundRect">
            <a:avLst>
              <a:gd name="adj" fmla="val 4396"/>
            </a:avLst>
          </a:prstGeom>
          <a:solidFill>
            <a:srgbClr val="FFFFFF"/>
          </a:solidFill>
          <a:ln w="9525">
            <a:solidFill>
              <a:srgbClr val="DBE3EE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8000"/>
              </a:srgbClr>
            </a:outerShdw>
          </a:effectLst>
        </p:spPr>
      </p:sp>
      <p:sp>
        <p:nvSpPr>
          <p:cNvPr id="11" name="Text 8"/>
          <p:cNvSpPr txBox="1"/>
          <p:nvPr/>
        </p:nvSpPr>
        <p:spPr>
          <a:xfrm>
            <a:off x="9372600" y="1645920"/>
            <a:ext cx="20391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E1B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data/ — CSV</a:t>
            </a:r>
            <a:endParaRPr lang="en-US" sz="2200" dirty="0"/>
          </a:p>
        </p:txBody>
      </p:sp>
      <p:sp>
        <p:nvSpPr>
          <p:cNvPr id="12" name="Text 9"/>
          <p:cNvSpPr txBox="1"/>
          <p:nvPr/>
        </p:nvSpPr>
        <p:spPr>
          <a:xfrm>
            <a:off x="9372600" y="2240280"/>
            <a:ext cx="2039112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exams.csv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topics.csv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settings.csv</a:t>
            </a:r>
            <a:endParaRPr lang="en-US" sz="1400" dirty="0"/>
          </a:p>
        </p:txBody>
      </p:sp>
      <p:sp>
        <p:nvSpPr>
          <p:cNvPr id="13" name="Text 10"/>
          <p:cNvSpPr txBox="1"/>
          <p:nvPr/>
        </p:nvSpPr>
        <p:spPr>
          <a:xfrm>
            <a:off x="4206240" y="3017520"/>
            <a:ext cx="502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dirty="0">
                <a:solidFill>
                  <a:srgbClr val="4F46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3600" dirty="0"/>
          </a:p>
        </p:txBody>
      </p:sp>
      <p:sp>
        <p:nvSpPr>
          <p:cNvPr id="14" name="Text 11"/>
          <p:cNvSpPr txBox="1"/>
          <p:nvPr/>
        </p:nvSpPr>
        <p:spPr>
          <a:xfrm>
            <a:off x="8641080" y="3017520"/>
            <a:ext cx="502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dirty="0">
                <a:solidFill>
                  <a:srgbClr val="4F46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3600" dirty="0"/>
          </a:p>
        </p:txBody>
      </p:sp>
      <p:sp>
        <p:nvSpPr>
          <p:cNvPr id="15" name="Text 12"/>
          <p:cNvSpPr txBox="1"/>
          <p:nvPr/>
        </p:nvSpPr>
        <p:spPr>
          <a:xfrm>
            <a:off x="548640" y="566928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4F46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Логика не зависит от окна, поэтому её можно менять отдельно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400800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4748B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E1B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Реализованный функционал</a:t>
            </a:r>
            <a:endParaRPr lang="en-US" sz="3400" dirty="0"/>
          </a:p>
        </p:txBody>
      </p:sp>
      <p:sp>
        <p:nvSpPr>
          <p:cNvPr id="4" name="Shape 1"/>
          <p:cNvSpPr/>
          <p:nvPr/>
        </p:nvSpPr>
        <p:spPr>
          <a:xfrm>
            <a:off x="548640" y="1417320"/>
            <a:ext cx="5440680" cy="10972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DBE3EE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8000"/>
              </a:srgbClr>
            </a:outerShdw>
          </a:effectLst>
        </p:spPr>
      </p:sp>
      <p:sp>
        <p:nvSpPr>
          <p:cNvPr id="5" name="Shape 2"/>
          <p:cNvSpPr/>
          <p:nvPr/>
        </p:nvSpPr>
        <p:spPr>
          <a:xfrm>
            <a:off x="731520" y="1691640"/>
            <a:ext cx="548640" cy="548640"/>
          </a:xfrm>
          <a:prstGeom prst="ellipse">
            <a:avLst/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731520" y="169164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7" name="Text 4"/>
          <p:cNvSpPr txBox="1"/>
          <p:nvPr/>
        </p:nvSpPr>
        <p:spPr>
          <a:xfrm>
            <a:off x="1463040" y="1527048"/>
            <a:ext cx="4389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E1B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Экзамены и контрольные</a:t>
            </a:r>
            <a:endParaRPr lang="en-US" sz="1800" dirty="0"/>
          </a:p>
        </p:txBody>
      </p:sp>
      <p:sp>
        <p:nvSpPr>
          <p:cNvPr id="8" name="Text 5"/>
          <p:cNvSpPr txBox="1"/>
          <p:nvPr/>
        </p:nvSpPr>
        <p:spPr>
          <a:xfrm>
            <a:off x="1463040" y="1920240"/>
            <a:ext cx="4389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у каждого своя дата и свои темы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6172200" y="1417320"/>
            <a:ext cx="5440680" cy="10972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DBE3EE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8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6355080" y="1691640"/>
            <a:ext cx="548640" cy="548640"/>
          </a:xfrm>
          <a:prstGeom prst="ellipse">
            <a:avLst/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6355080" y="169164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12" name="Text 9"/>
          <p:cNvSpPr txBox="1"/>
          <p:nvPr/>
        </p:nvSpPr>
        <p:spPr>
          <a:xfrm>
            <a:off x="7086600" y="1527048"/>
            <a:ext cx="4389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E1B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Выпадающие списки</a:t>
            </a:r>
            <a:endParaRPr lang="en-US" sz="1800" dirty="0"/>
          </a:p>
        </p:txBody>
      </p:sp>
      <p:sp>
        <p:nvSpPr>
          <p:cNvPr id="13" name="Text 10"/>
          <p:cNvSpPr txBox="1"/>
          <p:nvPr/>
        </p:nvSpPr>
        <p:spPr>
          <a:xfrm>
            <a:off x="7086600" y="1920240"/>
            <a:ext cx="4389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типовые предметы и темы, можно вписать своё, добавить сразу несколько тем</a:t>
            </a:r>
            <a:endParaRPr lang="en-US" sz="1400" dirty="0"/>
          </a:p>
        </p:txBody>
      </p:sp>
      <p:sp>
        <p:nvSpPr>
          <p:cNvPr id="14" name="Shape 11"/>
          <p:cNvSpPr/>
          <p:nvPr/>
        </p:nvSpPr>
        <p:spPr>
          <a:xfrm>
            <a:off x="548640" y="2651760"/>
            <a:ext cx="5440680" cy="10972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DBE3EE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8000"/>
              </a:srgbClr>
            </a:outerShdw>
          </a:effectLst>
        </p:spPr>
      </p:sp>
      <p:sp>
        <p:nvSpPr>
          <p:cNvPr id="15" name="Shape 12"/>
          <p:cNvSpPr/>
          <p:nvPr/>
        </p:nvSpPr>
        <p:spPr>
          <a:xfrm>
            <a:off x="731520" y="2926080"/>
            <a:ext cx="548640" cy="548640"/>
          </a:xfrm>
          <a:prstGeom prst="ellipse">
            <a:avLst/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731520" y="29260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17" name="Text 14"/>
          <p:cNvSpPr txBox="1"/>
          <p:nvPr/>
        </p:nvSpPr>
        <p:spPr>
          <a:xfrm>
            <a:off x="1463040" y="2761488"/>
            <a:ext cx="4389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E1B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Автоподбор сложности</a:t>
            </a:r>
            <a:endParaRPr lang="en-US" sz="1800" dirty="0"/>
          </a:p>
        </p:txBody>
      </p:sp>
      <p:sp>
        <p:nvSpPr>
          <p:cNvPr id="18" name="Text 15"/>
          <p:cNvSpPr txBox="1"/>
          <p:nvPr/>
        </p:nvSpPr>
        <p:spPr>
          <a:xfrm>
            <a:off x="1463040" y="3154680"/>
            <a:ext cx="4389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 названию предмета и темы, можно поправить вручную</a:t>
            </a:r>
            <a:endParaRPr lang="en-US" sz="1400" dirty="0"/>
          </a:p>
        </p:txBody>
      </p:sp>
      <p:sp>
        <p:nvSpPr>
          <p:cNvPr id="19" name="Shape 16"/>
          <p:cNvSpPr/>
          <p:nvPr/>
        </p:nvSpPr>
        <p:spPr>
          <a:xfrm>
            <a:off x="6172200" y="2651760"/>
            <a:ext cx="5440680" cy="10972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DBE3EE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8000"/>
              </a:srgbClr>
            </a:outerShdw>
          </a:effectLst>
        </p:spPr>
      </p:sp>
      <p:sp>
        <p:nvSpPr>
          <p:cNvPr id="20" name="Shape 17"/>
          <p:cNvSpPr/>
          <p:nvPr/>
        </p:nvSpPr>
        <p:spPr>
          <a:xfrm>
            <a:off x="6355080" y="2926080"/>
            <a:ext cx="548640" cy="548640"/>
          </a:xfrm>
          <a:prstGeom prst="ellipse">
            <a:avLst/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6355080" y="29260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600" dirty="0"/>
          </a:p>
        </p:txBody>
      </p:sp>
      <p:sp>
        <p:nvSpPr>
          <p:cNvPr id="22" name="Text 19"/>
          <p:cNvSpPr txBox="1"/>
          <p:nvPr/>
        </p:nvSpPr>
        <p:spPr>
          <a:xfrm>
            <a:off x="7086600" y="2761488"/>
            <a:ext cx="4389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E1B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План по дням</a:t>
            </a:r>
            <a:endParaRPr lang="en-US" sz="1800" dirty="0"/>
          </a:p>
        </p:txBody>
      </p:sp>
      <p:sp>
        <p:nvSpPr>
          <p:cNvPr id="23" name="Text 20"/>
          <p:cNvSpPr txBox="1"/>
          <p:nvPr/>
        </p:nvSpPr>
        <p:spPr>
          <a:xfrm>
            <a:off x="7086600" y="3154680"/>
            <a:ext cx="4389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лимит часов в день и на тему, сложные темы раньше</a:t>
            </a:r>
            <a:endParaRPr lang="en-US" sz="1400" dirty="0"/>
          </a:p>
        </p:txBody>
      </p:sp>
      <p:sp>
        <p:nvSpPr>
          <p:cNvPr id="24" name="Shape 21"/>
          <p:cNvSpPr/>
          <p:nvPr/>
        </p:nvSpPr>
        <p:spPr>
          <a:xfrm>
            <a:off x="548640" y="3886200"/>
            <a:ext cx="5440680" cy="10972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DBE3EE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8000"/>
              </a:srgbClr>
            </a:outerShdw>
          </a:effectLst>
        </p:spPr>
      </p:sp>
      <p:sp>
        <p:nvSpPr>
          <p:cNvPr id="25" name="Shape 22"/>
          <p:cNvSpPr/>
          <p:nvPr/>
        </p:nvSpPr>
        <p:spPr>
          <a:xfrm>
            <a:off x="731520" y="4160520"/>
            <a:ext cx="548640" cy="548640"/>
          </a:xfrm>
          <a:prstGeom prst="ellipse">
            <a:avLst/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731520" y="416052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600" dirty="0"/>
          </a:p>
        </p:txBody>
      </p:sp>
      <p:sp>
        <p:nvSpPr>
          <p:cNvPr id="27" name="Text 24"/>
          <p:cNvSpPr txBox="1"/>
          <p:nvPr/>
        </p:nvSpPr>
        <p:spPr>
          <a:xfrm>
            <a:off x="1463040" y="3995928"/>
            <a:ext cx="4389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E1B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Перепланирование</a:t>
            </a:r>
            <a:endParaRPr lang="en-US" sz="1800" dirty="0"/>
          </a:p>
        </p:txBody>
      </p:sp>
      <p:sp>
        <p:nvSpPr>
          <p:cNvPr id="28" name="Text 25"/>
          <p:cNvSpPr txBox="1"/>
          <p:nvPr/>
        </p:nvSpPr>
        <p:spPr>
          <a:xfrm>
            <a:off x="1463040" y="4389120"/>
            <a:ext cx="4389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отстал: темы переезжают вперёд, есть предупреждение о риске</a:t>
            </a:r>
            <a:endParaRPr lang="en-US" sz="1400" dirty="0"/>
          </a:p>
        </p:txBody>
      </p:sp>
      <p:sp>
        <p:nvSpPr>
          <p:cNvPr id="29" name="Shape 26"/>
          <p:cNvSpPr/>
          <p:nvPr/>
        </p:nvSpPr>
        <p:spPr>
          <a:xfrm>
            <a:off x="6172200" y="3886200"/>
            <a:ext cx="5440680" cy="10972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DBE3EE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8000"/>
              </a:srgbClr>
            </a:outerShdw>
          </a:effectLst>
        </p:spPr>
      </p:sp>
      <p:sp>
        <p:nvSpPr>
          <p:cNvPr id="30" name="Shape 27"/>
          <p:cNvSpPr/>
          <p:nvPr/>
        </p:nvSpPr>
        <p:spPr>
          <a:xfrm>
            <a:off x="6355080" y="4160520"/>
            <a:ext cx="548640" cy="548640"/>
          </a:xfrm>
          <a:prstGeom prst="ellipse">
            <a:avLst/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6355080" y="416052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600" dirty="0"/>
          </a:p>
        </p:txBody>
      </p:sp>
      <p:sp>
        <p:nvSpPr>
          <p:cNvPr id="32" name="Text 29"/>
          <p:cNvSpPr txBox="1"/>
          <p:nvPr/>
        </p:nvSpPr>
        <p:spPr>
          <a:xfrm>
            <a:off x="7086600" y="3995928"/>
            <a:ext cx="4389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E1B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Два вида визуализации</a:t>
            </a:r>
            <a:endParaRPr lang="en-US" sz="1800" dirty="0"/>
          </a:p>
        </p:txBody>
      </p:sp>
      <p:sp>
        <p:nvSpPr>
          <p:cNvPr id="33" name="Text 30"/>
          <p:cNvSpPr txBox="1"/>
          <p:nvPr/>
        </p:nvSpPr>
        <p:spPr>
          <a:xfrm>
            <a:off x="7086600" y="4389120"/>
            <a:ext cx="4389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календарь нагрузки и диаграмма Ганта</a:t>
            </a:r>
            <a:endParaRPr lang="en-US" sz="1400" dirty="0"/>
          </a:p>
        </p:txBody>
      </p:sp>
      <p:sp>
        <p:nvSpPr>
          <p:cNvPr id="34" name="Shape 31"/>
          <p:cNvSpPr/>
          <p:nvPr/>
        </p:nvSpPr>
        <p:spPr>
          <a:xfrm>
            <a:off x="548640" y="5120640"/>
            <a:ext cx="5440680" cy="10972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DBE3EE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8000"/>
              </a:srgbClr>
            </a:outerShdw>
          </a:effectLst>
        </p:spPr>
      </p:sp>
      <p:sp>
        <p:nvSpPr>
          <p:cNvPr id="35" name="Shape 32"/>
          <p:cNvSpPr/>
          <p:nvPr/>
        </p:nvSpPr>
        <p:spPr>
          <a:xfrm>
            <a:off x="731520" y="5394960"/>
            <a:ext cx="548640" cy="548640"/>
          </a:xfrm>
          <a:prstGeom prst="ellipse">
            <a:avLst/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731520" y="539496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600" dirty="0"/>
          </a:p>
        </p:txBody>
      </p:sp>
      <p:sp>
        <p:nvSpPr>
          <p:cNvPr id="37" name="Text 34"/>
          <p:cNvSpPr txBox="1"/>
          <p:nvPr/>
        </p:nvSpPr>
        <p:spPr>
          <a:xfrm>
            <a:off x="1463040" y="5230368"/>
            <a:ext cx="4389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E1B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Сохранение в CSV</a:t>
            </a:r>
            <a:endParaRPr lang="en-US" sz="1800" dirty="0"/>
          </a:p>
        </p:txBody>
      </p:sp>
      <p:sp>
        <p:nvSpPr>
          <p:cNvPr id="38" name="Text 35"/>
          <p:cNvSpPr txBox="1"/>
          <p:nvPr/>
        </p:nvSpPr>
        <p:spPr>
          <a:xfrm>
            <a:off x="1463040" y="5623560"/>
            <a:ext cx="4389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данные не пропадают, битый файл программу не ломает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400800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4748B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E1B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Как строится план</a:t>
            </a:r>
            <a:endParaRPr lang="en-US" sz="3400" dirty="0"/>
          </a:p>
        </p:txBody>
      </p:sp>
      <p:sp>
        <p:nvSpPr>
          <p:cNvPr id="4" name="Text 1"/>
          <p:cNvSpPr txBox="1"/>
          <p:nvPr/>
        </p:nvSpPr>
        <p:spPr>
          <a:xfrm>
            <a:off x="548640" y="1463040"/>
            <a:ext cx="5486400" cy="420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Часов на тему = сложность (1–5)</a:t>
            </a:r>
            <a:endParaRPr lang="en-US" sz="1800" dirty="0"/>
          </a:p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Часы делятся поровну на все дни до экзамена</a:t>
            </a:r>
            <a:endParaRPr lang="en-US" sz="1800" dirty="0"/>
          </a:p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 день не больше 4 часов, одной темы — не больше 2</a:t>
            </a:r>
            <a:endParaRPr lang="en-US" sz="1800" dirty="0"/>
          </a:p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Сложные темы ближайшего срока — первыми</a:t>
            </a:r>
            <a:endParaRPr lang="en-US" sz="1800" dirty="0"/>
          </a:p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 день до экзамена — повторение 2 ч (до контрольной — 1 ч)</a:t>
            </a:r>
            <a:endParaRPr lang="en-US" sz="1800" dirty="0"/>
          </a:p>
          <a:p>
            <a:pPr marL="228600" indent="-228600">
              <a:buSzPct val="100000"/>
              <a:buChar char="•"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Не помещается: предупреждение вместо перегруза</a:t>
            </a:r>
            <a:endParaRPr lang="en-US" sz="1800" dirty="0"/>
          </a:p>
        </p:txBody>
      </p:sp>
      <p:sp>
        <p:nvSpPr>
          <p:cNvPr id="5" name="Shape 2"/>
          <p:cNvSpPr/>
          <p:nvPr/>
        </p:nvSpPr>
        <p:spPr>
          <a:xfrm>
            <a:off x="6400800" y="1463040"/>
            <a:ext cx="5239512" cy="4206240"/>
          </a:xfrm>
          <a:prstGeom prst="roundRect">
            <a:avLst>
              <a:gd name="adj" fmla="val 2609"/>
            </a:avLst>
          </a:prstGeom>
          <a:solidFill>
            <a:srgbClr val="FFFFFF"/>
          </a:solidFill>
          <a:ln w="9525">
            <a:solidFill>
              <a:srgbClr val="DBE3EE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8000"/>
              </a:srgbClr>
            </a:outerShdw>
          </a:effectLst>
        </p:spPr>
      </p:sp>
      <p:sp>
        <p:nvSpPr>
          <p:cNvPr id="6" name="Text 3"/>
          <p:cNvSpPr txBox="1"/>
          <p:nvPr/>
        </p:nvSpPr>
        <p:spPr>
          <a:xfrm>
            <a:off x="6675120" y="1645920"/>
            <a:ext cx="4663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E1B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 часа, экзамен через 10 дней</a:t>
            </a:r>
            <a:endParaRPr lang="en-US" sz="2000" dirty="0"/>
          </a:p>
        </p:txBody>
      </p:sp>
      <p:sp>
        <p:nvSpPr>
          <p:cNvPr id="7" name="Shape 4"/>
          <p:cNvSpPr/>
          <p:nvPr/>
        </p:nvSpPr>
        <p:spPr>
          <a:xfrm>
            <a:off x="6675120" y="4370832"/>
            <a:ext cx="365760" cy="18288"/>
          </a:xfrm>
          <a:prstGeom prst="rect">
            <a:avLst/>
          </a:prstGeom>
          <a:solidFill>
            <a:srgbClr val="CBD5E1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675120" y="443484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7132320" y="3566160"/>
            <a:ext cx="365760" cy="822960"/>
          </a:xfrm>
          <a:prstGeom prst="rect">
            <a:avLst/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7132320" y="3566160"/>
            <a:ext cx="365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ч</a:t>
            </a:r>
            <a:endParaRPr lang="en-US" sz="1200" dirty="0"/>
          </a:p>
        </p:txBody>
      </p:sp>
      <p:sp>
        <p:nvSpPr>
          <p:cNvPr id="11" name="Text 8"/>
          <p:cNvSpPr txBox="1"/>
          <p:nvPr/>
        </p:nvSpPr>
        <p:spPr>
          <a:xfrm>
            <a:off x="7132320" y="443484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7589520" y="4370832"/>
            <a:ext cx="365760" cy="18288"/>
          </a:xfrm>
          <a:prstGeom prst="rect">
            <a:avLst/>
          </a:prstGeom>
          <a:solidFill>
            <a:srgbClr val="CBD5E1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7589520" y="443484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8046720" y="4370832"/>
            <a:ext cx="365760" cy="18288"/>
          </a:xfrm>
          <a:prstGeom prst="rect">
            <a:avLst/>
          </a:prstGeom>
          <a:solidFill>
            <a:srgbClr val="CBD5E1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8046720" y="443484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200" dirty="0"/>
          </a:p>
        </p:txBody>
      </p:sp>
      <p:sp>
        <p:nvSpPr>
          <p:cNvPr id="16" name="Shape 13"/>
          <p:cNvSpPr/>
          <p:nvPr/>
        </p:nvSpPr>
        <p:spPr>
          <a:xfrm>
            <a:off x="8503920" y="3566160"/>
            <a:ext cx="365760" cy="822960"/>
          </a:xfrm>
          <a:prstGeom prst="rect">
            <a:avLst/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8503920" y="3566160"/>
            <a:ext cx="365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ч</a:t>
            </a:r>
            <a:endParaRPr lang="en-US" sz="1200" dirty="0"/>
          </a:p>
        </p:txBody>
      </p:sp>
      <p:sp>
        <p:nvSpPr>
          <p:cNvPr id="18" name="Text 15"/>
          <p:cNvSpPr txBox="1"/>
          <p:nvPr/>
        </p:nvSpPr>
        <p:spPr>
          <a:xfrm>
            <a:off x="8503920" y="443484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200" dirty="0"/>
          </a:p>
        </p:txBody>
      </p:sp>
      <p:sp>
        <p:nvSpPr>
          <p:cNvPr id="19" name="Shape 16"/>
          <p:cNvSpPr/>
          <p:nvPr/>
        </p:nvSpPr>
        <p:spPr>
          <a:xfrm>
            <a:off x="8961120" y="4370832"/>
            <a:ext cx="365760" cy="18288"/>
          </a:xfrm>
          <a:prstGeom prst="rect">
            <a:avLst/>
          </a:prstGeom>
          <a:solidFill>
            <a:srgbClr val="CBD5E1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8961120" y="443484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200" dirty="0"/>
          </a:p>
        </p:txBody>
      </p:sp>
      <p:sp>
        <p:nvSpPr>
          <p:cNvPr id="21" name="Shape 18"/>
          <p:cNvSpPr/>
          <p:nvPr/>
        </p:nvSpPr>
        <p:spPr>
          <a:xfrm>
            <a:off x="9418320" y="4370832"/>
            <a:ext cx="365760" cy="18288"/>
          </a:xfrm>
          <a:prstGeom prst="rect">
            <a:avLst/>
          </a:prstGeom>
          <a:solidFill>
            <a:srgbClr val="CBD5E1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9418320" y="443484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200" dirty="0"/>
          </a:p>
        </p:txBody>
      </p:sp>
      <p:sp>
        <p:nvSpPr>
          <p:cNvPr id="23" name="Shape 20"/>
          <p:cNvSpPr/>
          <p:nvPr/>
        </p:nvSpPr>
        <p:spPr>
          <a:xfrm>
            <a:off x="9875520" y="4370832"/>
            <a:ext cx="365760" cy="18288"/>
          </a:xfrm>
          <a:prstGeom prst="rect">
            <a:avLst/>
          </a:prstGeom>
          <a:solidFill>
            <a:srgbClr val="CBD5E1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9875520" y="443484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200" dirty="0"/>
          </a:p>
        </p:txBody>
      </p:sp>
      <p:sp>
        <p:nvSpPr>
          <p:cNvPr id="25" name="Shape 22"/>
          <p:cNvSpPr/>
          <p:nvPr/>
        </p:nvSpPr>
        <p:spPr>
          <a:xfrm>
            <a:off x="10332720" y="3566160"/>
            <a:ext cx="365760" cy="822960"/>
          </a:xfrm>
          <a:prstGeom prst="rect">
            <a:avLst/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10332720" y="3566160"/>
            <a:ext cx="365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ч</a:t>
            </a:r>
            <a:endParaRPr lang="en-US" sz="1200" dirty="0"/>
          </a:p>
        </p:txBody>
      </p:sp>
      <p:sp>
        <p:nvSpPr>
          <p:cNvPr id="27" name="Text 24"/>
          <p:cNvSpPr txBox="1"/>
          <p:nvPr/>
        </p:nvSpPr>
        <p:spPr>
          <a:xfrm>
            <a:off x="10332720" y="443484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1200" dirty="0"/>
          </a:p>
        </p:txBody>
      </p:sp>
      <p:sp>
        <p:nvSpPr>
          <p:cNvPr id="28" name="Shape 25"/>
          <p:cNvSpPr/>
          <p:nvPr/>
        </p:nvSpPr>
        <p:spPr>
          <a:xfrm>
            <a:off x="10789920" y="4370832"/>
            <a:ext cx="365760" cy="18288"/>
          </a:xfrm>
          <a:prstGeom prst="rect">
            <a:avLst/>
          </a:prstGeom>
          <a:solidFill>
            <a:srgbClr val="CBD5E1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29" name="Text 26"/>
          <p:cNvSpPr txBox="1"/>
          <p:nvPr/>
        </p:nvSpPr>
        <p:spPr>
          <a:xfrm>
            <a:off x="10789920" y="443484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200" dirty="0"/>
          </a:p>
        </p:txBody>
      </p:sp>
      <p:sp>
        <p:nvSpPr>
          <p:cNvPr id="30" name="Text 27"/>
          <p:cNvSpPr txBox="1"/>
          <p:nvPr/>
        </p:nvSpPr>
        <p:spPr>
          <a:xfrm>
            <a:off x="6675120" y="4937760"/>
            <a:ext cx="4663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4F46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 часу раз в несколько дней, а не 3 часа в первый день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400800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4748B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E1B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Требования курса в коде</a:t>
            </a:r>
            <a:endParaRPr lang="en-US" sz="3400" dirty="0"/>
          </a:p>
        </p:txBody>
      </p:sp>
      <p:sp>
        <p:nvSpPr>
          <p:cNvPr id="4" name="Shape 1"/>
          <p:cNvSpPr/>
          <p:nvPr/>
        </p:nvSpPr>
        <p:spPr>
          <a:xfrm>
            <a:off x="548640" y="1417320"/>
            <a:ext cx="3566160" cy="4754880"/>
          </a:xfrm>
          <a:prstGeom prst="roundRect">
            <a:avLst>
              <a:gd name="adj" fmla="val 3077"/>
            </a:avLst>
          </a:prstGeom>
          <a:solidFill>
            <a:srgbClr val="FFFFFF"/>
          </a:solidFill>
          <a:ln w="9525">
            <a:solidFill>
              <a:srgbClr val="DBE3EE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8000"/>
              </a:srgbClr>
            </a:outerShdw>
          </a:effectLst>
        </p:spPr>
      </p:sp>
      <p:sp>
        <p:nvSpPr>
          <p:cNvPr id="5" name="Text 2"/>
          <p:cNvSpPr txBox="1"/>
          <p:nvPr/>
        </p:nvSpPr>
        <p:spPr>
          <a:xfrm>
            <a:off x="777240" y="1554480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4F46E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Обработка ошибок</a:t>
            </a:r>
            <a:endParaRPr lang="en-US" sz="2200" dirty="0"/>
          </a:p>
        </p:txBody>
      </p:sp>
      <p:sp>
        <p:nvSpPr>
          <p:cNvPr id="6" name="Text 3"/>
          <p:cNvSpPr txBox="1"/>
          <p:nvPr/>
        </p:nvSpPr>
        <p:spPr>
          <a:xfrm>
            <a:off x="777240" y="2103120"/>
            <a:ext cx="3108960" cy="3931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try: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action()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except PlannerError as e: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messagebox.showerror(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"Ошибка", str(e))</a:t>
            </a:r>
            <a:endParaRPr lang="en-US" sz="1300" dirty="0"/>
          </a:p>
          <a:p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ValidationError,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StorageError</a:t>
            </a:r>
            <a:endParaRPr lang="en-US" sz="1300" dirty="0"/>
          </a:p>
        </p:txBody>
      </p:sp>
      <p:sp>
        <p:nvSpPr>
          <p:cNvPr id="7" name="Shape 4"/>
          <p:cNvSpPr/>
          <p:nvPr/>
        </p:nvSpPr>
        <p:spPr>
          <a:xfrm>
            <a:off x="4297680" y="1417320"/>
            <a:ext cx="3566160" cy="4754880"/>
          </a:xfrm>
          <a:prstGeom prst="roundRect">
            <a:avLst>
              <a:gd name="adj" fmla="val 3077"/>
            </a:avLst>
          </a:prstGeom>
          <a:solidFill>
            <a:srgbClr val="FFFFFF"/>
          </a:solidFill>
          <a:ln w="9525">
            <a:solidFill>
              <a:srgbClr val="DBE3EE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8000"/>
              </a:srgbClr>
            </a:outerShdw>
          </a:effectLst>
        </p:spPr>
      </p:sp>
      <p:sp>
        <p:nvSpPr>
          <p:cNvPr id="8" name="Text 5"/>
          <p:cNvSpPr txBox="1"/>
          <p:nvPr/>
        </p:nvSpPr>
        <p:spPr>
          <a:xfrm>
            <a:off x="4526280" y="1554480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4F46E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Словари</a:t>
            </a:r>
            <a:endParaRPr lang="en-US" sz="2200" dirty="0"/>
          </a:p>
        </p:txBody>
      </p:sp>
      <p:sp>
        <p:nvSpPr>
          <p:cNvPr id="9" name="Text 6"/>
          <p:cNvSpPr txBox="1"/>
          <p:nvPr/>
        </p:nvSpPr>
        <p:spPr>
          <a:xfrm>
            <a:off x="4526280" y="2103120"/>
            <a:ext cx="3108960" cy="3931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plan = {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date(2026, 10, 3): [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("Математика",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"Ряды", 2)]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300" dirty="0"/>
          </a:p>
          <a:p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SUBJECT_BASE = {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"математ": 4,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"физик": 4, ...}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8046720" y="1417320"/>
            <a:ext cx="3566160" cy="4754880"/>
          </a:xfrm>
          <a:prstGeom prst="roundRect">
            <a:avLst>
              <a:gd name="adj" fmla="val 3077"/>
            </a:avLst>
          </a:prstGeom>
          <a:solidFill>
            <a:srgbClr val="FFFFFF"/>
          </a:solidFill>
          <a:ln w="9525">
            <a:solidFill>
              <a:srgbClr val="DBE3EE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8000"/>
              </a:srgbClr>
            </a:outerShdw>
          </a:effectLst>
        </p:spPr>
      </p:sp>
      <p:sp>
        <p:nvSpPr>
          <p:cNvPr id="11" name="Text 8"/>
          <p:cNvSpPr txBox="1"/>
          <p:nvPr/>
        </p:nvSpPr>
        <p:spPr>
          <a:xfrm>
            <a:off x="8275320" y="1554480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4F46E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ООП</a:t>
            </a:r>
            <a:endParaRPr lang="en-US" sz="2200" dirty="0"/>
          </a:p>
        </p:txBody>
      </p:sp>
      <p:sp>
        <p:nvSpPr>
          <p:cNvPr id="12" name="Text 9"/>
          <p:cNvSpPr txBox="1"/>
          <p:nvPr/>
        </p:nvSpPr>
        <p:spPr>
          <a:xfrm>
            <a:off x="8275320" y="2103120"/>
            <a:ext cx="3108960" cy="3931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class Planner: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def build_plan(self)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def replan(self)</a:t>
            </a:r>
            <a:endParaRPr lang="en-US" sz="1300" dirty="0"/>
          </a:p>
          <a:p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class Exam, Topic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class Storage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class GanttChart(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ttk.Frame)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class PlannerError(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Exception)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400800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4748B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E1B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Ошибки: свои исключения</a:t>
            </a:r>
            <a:endParaRPr lang="en-US" sz="3400" dirty="0"/>
          </a:p>
        </p:txBody>
      </p:sp>
      <p:sp>
        <p:nvSpPr>
          <p:cNvPr id="4" name="Shape 1"/>
          <p:cNvSpPr/>
          <p:nvPr/>
        </p:nvSpPr>
        <p:spPr>
          <a:xfrm>
            <a:off x="1583339" y="1207008"/>
            <a:ext cx="9022274" cy="5084064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</p:spPr>
      </p:sp>
      <p:pic>
        <p:nvPicPr>
          <p:cNvPr id="5" name="Image 0" descr="Скриншот программы: code_errors_lef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610771" y="1234440"/>
            <a:ext cx="8967410" cy="502920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400800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4748B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E1B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Ошибки: как мы их ловим</a:t>
            </a:r>
            <a:endParaRPr lang="en-US" sz="3400" dirty="0"/>
          </a:p>
        </p:txBody>
      </p:sp>
      <p:sp>
        <p:nvSpPr>
          <p:cNvPr id="4" name="Shape 1"/>
          <p:cNvSpPr/>
          <p:nvPr/>
        </p:nvSpPr>
        <p:spPr>
          <a:xfrm>
            <a:off x="521208" y="1777450"/>
            <a:ext cx="11146536" cy="394318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</p:spPr>
      </p:sp>
      <p:pic>
        <p:nvPicPr>
          <p:cNvPr id="5" name="Image 0" descr="Скриншот программы: code_errors_righ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804882"/>
            <a:ext cx="11091672" cy="3888316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400800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4748B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E1B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Словари: оценка сложности</a:t>
            </a:r>
            <a:endParaRPr lang="en-US" sz="3400" dirty="0"/>
          </a:p>
        </p:txBody>
      </p:sp>
      <p:sp>
        <p:nvSpPr>
          <p:cNvPr id="4" name="Shape 1"/>
          <p:cNvSpPr/>
          <p:nvPr/>
        </p:nvSpPr>
        <p:spPr>
          <a:xfrm>
            <a:off x="521208" y="1209233"/>
            <a:ext cx="11146536" cy="5079615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</p:spPr>
      </p:sp>
      <p:pic>
        <p:nvPicPr>
          <p:cNvPr id="5" name="Image 0" descr="Скриншот программы: code_dicts_righ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236665"/>
            <a:ext cx="11091672" cy="5024751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400800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4748B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E1B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Словари: план по дням</a:t>
            </a:r>
            <a:endParaRPr lang="en-US" sz="3400" dirty="0"/>
          </a:p>
        </p:txBody>
      </p:sp>
      <p:sp>
        <p:nvSpPr>
          <p:cNvPr id="4" name="Shape 1"/>
          <p:cNvSpPr/>
          <p:nvPr/>
        </p:nvSpPr>
        <p:spPr>
          <a:xfrm>
            <a:off x="585657" y="1207008"/>
            <a:ext cx="11017638" cy="5084064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</p:spPr>
      </p:sp>
      <p:pic>
        <p:nvPicPr>
          <p:cNvPr id="5" name="Image 0" descr="Скриншот программы: code_dicts_lef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13089" y="1234440"/>
            <a:ext cx="10962774" cy="502920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400800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4748B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E1B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ООП: экзамен и тема</a:t>
            </a:r>
            <a:endParaRPr lang="en-US" sz="3400" dirty="0"/>
          </a:p>
        </p:txBody>
      </p:sp>
      <p:sp>
        <p:nvSpPr>
          <p:cNvPr id="4" name="Shape 1"/>
          <p:cNvSpPr/>
          <p:nvPr/>
        </p:nvSpPr>
        <p:spPr>
          <a:xfrm>
            <a:off x="1382985" y="1207008"/>
            <a:ext cx="9422982" cy="5084064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</p:spPr>
      </p:sp>
      <p:pic>
        <p:nvPicPr>
          <p:cNvPr id="5" name="Image 0" descr="Скриншот программы: code_oop_lef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410417" y="1234440"/>
            <a:ext cx="9368118" cy="502920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400800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4748B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E1B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ООП: планировщик</a:t>
            </a:r>
            <a:endParaRPr lang="en-US" sz="3400" dirty="0"/>
          </a:p>
        </p:txBody>
      </p:sp>
      <p:sp>
        <p:nvSpPr>
          <p:cNvPr id="4" name="Shape 1"/>
          <p:cNvSpPr/>
          <p:nvPr/>
        </p:nvSpPr>
        <p:spPr>
          <a:xfrm>
            <a:off x="737357" y="1207008"/>
            <a:ext cx="10714238" cy="5084064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</p:spPr>
      </p:sp>
      <p:pic>
        <p:nvPicPr>
          <p:cNvPr id="5" name="Image 0" descr="Скриншот программы: code_oop_righ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4789" y="1234440"/>
            <a:ext cx="10659374" cy="502920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400800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4748B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E1B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Календарь нагрузки</a:t>
            </a:r>
            <a:endParaRPr lang="en-US" sz="3400" dirty="0"/>
          </a:p>
        </p:txBody>
      </p:sp>
      <p:sp>
        <p:nvSpPr>
          <p:cNvPr id="4" name="Shape 1"/>
          <p:cNvSpPr/>
          <p:nvPr/>
        </p:nvSpPr>
        <p:spPr>
          <a:xfrm>
            <a:off x="883893" y="1252728"/>
            <a:ext cx="6919015" cy="4992624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</p:spPr>
      </p:sp>
      <p:pic>
        <p:nvPicPr>
          <p:cNvPr id="5" name="Image 0" descr="Скриншот программы: 01_calend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1325" y="1280160"/>
            <a:ext cx="6864151" cy="4937760"/>
          </a:xfrm>
          <a:prstGeom prst="rect">
            <a:avLst/>
          </a:prstGeom>
        </p:spPr>
      </p:pic>
      <p:sp>
        <p:nvSpPr>
          <p:cNvPr id="6" name="Shape 2"/>
          <p:cNvSpPr/>
          <p:nvPr/>
        </p:nvSpPr>
        <p:spPr>
          <a:xfrm>
            <a:off x="8412480" y="1280160"/>
            <a:ext cx="3227832" cy="4937760"/>
          </a:xfrm>
          <a:prstGeom prst="roundRect">
            <a:avLst>
              <a:gd name="adj" fmla="val 3399"/>
            </a:avLst>
          </a:prstGeom>
          <a:solidFill>
            <a:srgbClr val="FFFFFF"/>
          </a:solidFill>
          <a:ln w="9525">
            <a:solidFill>
              <a:srgbClr val="DBE3EE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8000"/>
              </a:srgbClr>
            </a:outerShdw>
          </a:effectLst>
        </p:spPr>
      </p:sp>
      <p:sp>
        <p:nvSpPr>
          <p:cNvPr id="7" name="Text 3"/>
          <p:cNvSpPr txBox="1"/>
          <p:nvPr/>
        </p:nvSpPr>
        <p:spPr>
          <a:xfrm>
            <a:off x="8641080" y="1508760"/>
            <a:ext cx="2834640" cy="4480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Цвет — загрузка дня</a:t>
            </a:r>
            <a:endParaRPr lang="en-US" sz="16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Красный — экзамен, фиолетовый — контрольная</a:t>
            </a:r>
            <a:endParaRPr lang="en-US" sz="16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Клик по дню — список тем и часов</a:t>
            </a:r>
            <a:endParaRPr lang="en-US" sz="16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Листание месяцев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400800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4748B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E1B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Диаграмма Ганта</a:t>
            </a:r>
            <a:endParaRPr lang="en-US" sz="3400" dirty="0"/>
          </a:p>
        </p:txBody>
      </p:sp>
      <p:sp>
        <p:nvSpPr>
          <p:cNvPr id="4" name="Shape 1"/>
          <p:cNvSpPr/>
          <p:nvPr/>
        </p:nvSpPr>
        <p:spPr>
          <a:xfrm>
            <a:off x="883893" y="1252728"/>
            <a:ext cx="6919015" cy="4992624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</p:spPr>
      </p:sp>
      <p:pic>
        <p:nvPicPr>
          <p:cNvPr id="5" name="Image 0" descr="Скриншот программы: 02_gant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1325" y="1280160"/>
            <a:ext cx="6864151" cy="4937760"/>
          </a:xfrm>
          <a:prstGeom prst="rect">
            <a:avLst/>
          </a:prstGeom>
        </p:spPr>
      </p:pic>
      <p:sp>
        <p:nvSpPr>
          <p:cNvPr id="6" name="Shape 2"/>
          <p:cNvSpPr/>
          <p:nvPr/>
        </p:nvSpPr>
        <p:spPr>
          <a:xfrm>
            <a:off x="8412480" y="1280160"/>
            <a:ext cx="3227832" cy="4937760"/>
          </a:xfrm>
          <a:prstGeom prst="roundRect">
            <a:avLst>
              <a:gd name="adj" fmla="val 3399"/>
            </a:avLst>
          </a:prstGeom>
          <a:solidFill>
            <a:srgbClr val="FFFFFF"/>
          </a:solidFill>
          <a:ln w="9525">
            <a:solidFill>
              <a:srgbClr val="DBE3EE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8000"/>
              </a:srgbClr>
            </a:outerShdw>
          </a:effectLst>
        </p:spPr>
      </p:sp>
      <p:sp>
        <p:nvSpPr>
          <p:cNvPr id="7" name="Text 3"/>
          <p:cNvSpPr txBox="1"/>
          <p:nvPr/>
        </p:nvSpPr>
        <p:spPr>
          <a:xfrm>
            <a:off x="8641080" y="1508760"/>
            <a:ext cx="2834640" cy="4480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Полоска — период занятий по теме</a:t>
            </a:r>
            <a:endParaRPr lang="en-US" sz="16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Линии — экзамены, контрольные и «сегодня»</a:t>
            </a:r>
            <a:endParaRPr lang="en-US" sz="16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Красная строка — тема не помещается</a:t>
            </a:r>
            <a:endParaRPr lang="en-US" sz="16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Серая — тема уже выполнена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400800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4748B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E1B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Работа программы по шагам</a:t>
            </a:r>
            <a:endParaRPr lang="en-US" sz="3400" dirty="0"/>
          </a:p>
        </p:txBody>
      </p:sp>
      <p:sp>
        <p:nvSpPr>
          <p:cNvPr id="4" name="Shape 1"/>
          <p:cNvSpPr/>
          <p:nvPr/>
        </p:nvSpPr>
        <p:spPr>
          <a:xfrm>
            <a:off x="523566" y="1298448"/>
            <a:ext cx="3296268" cy="2386584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</p:spPr>
      </p:sp>
      <p:pic>
        <p:nvPicPr>
          <p:cNvPr id="5" name="Image 0" descr="Скриншот программы: s1_empty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50998" y="1325880"/>
            <a:ext cx="3241404" cy="2331720"/>
          </a:xfrm>
          <a:prstGeom prst="rect">
            <a:avLst/>
          </a:prstGeom>
        </p:spPr>
      </p:pic>
      <p:sp>
        <p:nvSpPr>
          <p:cNvPr id="6" name="Shape 2"/>
          <p:cNvSpPr/>
          <p:nvPr/>
        </p:nvSpPr>
        <p:spPr>
          <a:xfrm>
            <a:off x="3977640" y="1371600"/>
            <a:ext cx="457200" cy="457200"/>
          </a:xfrm>
          <a:prstGeom prst="ellipse">
            <a:avLst/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7" name="Text 3"/>
          <p:cNvSpPr txBox="1"/>
          <p:nvPr/>
        </p:nvSpPr>
        <p:spPr>
          <a:xfrm>
            <a:off x="3977640" y="13716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8" name="Text 4"/>
          <p:cNvSpPr txBox="1"/>
          <p:nvPr/>
        </p:nvSpPr>
        <p:spPr>
          <a:xfrm>
            <a:off x="4526280" y="1371600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1B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Старт</a:t>
            </a:r>
            <a:endParaRPr lang="en-US" sz="1600" dirty="0"/>
          </a:p>
        </p:txBody>
      </p:sp>
      <p:sp>
        <p:nvSpPr>
          <p:cNvPr id="9" name="Text 5"/>
          <p:cNvSpPr txBox="1"/>
          <p:nvPr/>
        </p:nvSpPr>
        <p:spPr>
          <a:xfrm>
            <a:off x="3977640" y="1965960"/>
            <a:ext cx="21031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Окно пустое, в полях подсказки. Предмет и тему можно выбрать из списка.</a:t>
            </a:r>
            <a:endParaRPr lang="en-US" sz="1400" dirty="0"/>
          </a:p>
        </p:txBody>
      </p:sp>
      <p:sp>
        <p:nvSpPr>
          <p:cNvPr id="10" name="Shape 6"/>
          <p:cNvSpPr/>
          <p:nvPr/>
        </p:nvSpPr>
        <p:spPr>
          <a:xfrm>
            <a:off x="6261197" y="1298448"/>
            <a:ext cx="3159565" cy="2386584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</p:spPr>
      </p:sp>
      <p:pic>
        <p:nvPicPr>
          <p:cNvPr id="11" name="Image 1" descr="Скриншот программы: 03_dialog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88629" y="1325880"/>
            <a:ext cx="3104701" cy="2331720"/>
          </a:xfrm>
          <a:prstGeom prst="rect">
            <a:avLst/>
          </a:prstGeom>
        </p:spPr>
      </p:pic>
      <p:sp>
        <p:nvSpPr>
          <p:cNvPr id="12" name="Shape 7"/>
          <p:cNvSpPr/>
          <p:nvPr/>
        </p:nvSpPr>
        <p:spPr>
          <a:xfrm>
            <a:off x="9646920" y="1371600"/>
            <a:ext cx="457200" cy="457200"/>
          </a:xfrm>
          <a:prstGeom prst="ellipse">
            <a:avLst/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13" name="Text 8"/>
          <p:cNvSpPr txBox="1"/>
          <p:nvPr/>
        </p:nvSpPr>
        <p:spPr>
          <a:xfrm>
            <a:off x="9646920" y="13716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14" name="Text 9"/>
          <p:cNvSpPr txBox="1"/>
          <p:nvPr/>
        </p:nvSpPr>
        <p:spPr>
          <a:xfrm>
            <a:off x="10195560" y="1371600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1B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Темы пачкой</a:t>
            </a:r>
            <a:endParaRPr lang="en-US" sz="1600" dirty="0"/>
          </a:p>
        </p:txBody>
      </p:sp>
      <p:sp>
        <p:nvSpPr>
          <p:cNvPr id="15" name="Text 10"/>
          <p:cNvSpPr txBox="1"/>
          <p:nvPr/>
        </p:nvSpPr>
        <p:spPr>
          <a:xfrm>
            <a:off x="9646920" y="1965960"/>
            <a:ext cx="21031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 окне «Несколько…» отмечаем готовые темы и дописываем свои.</a:t>
            </a:r>
            <a:endParaRPr lang="en-US" sz="1400" dirty="0"/>
          </a:p>
        </p:txBody>
      </p:sp>
      <p:sp>
        <p:nvSpPr>
          <p:cNvPr id="16" name="Shape 11"/>
          <p:cNvSpPr/>
          <p:nvPr/>
        </p:nvSpPr>
        <p:spPr>
          <a:xfrm>
            <a:off x="523566" y="3813048"/>
            <a:ext cx="3296268" cy="2386584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</p:spPr>
      </p:sp>
      <p:pic>
        <p:nvPicPr>
          <p:cNvPr id="17" name="Image 2" descr="Скриншот программы: s4_risk_calendar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0998" y="3840480"/>
            <a:ext cx="3241404" cy="2331720"/>
          </a:xfrm>
          <a:prstGeom prst="rect">
            <a:avLst/>
          </a:prstGeom>
        </p:spPr>
      </p:pic>
      <p:sp>
        <p:nvSpPr>
          <p:cNvPr id="18" name="Shape 12"/>
          <p:cNvSpPr/>
          <p:nvPr/>
        </p:nvSpPr>
        <p:spPr>
          <a:xfrm>
            <a:off x="3977640" y="3886200"/>
            <a:ext cx="457200" cy="457200"/>
          </a:xfrm>
          <a:prstGeom prst="ellipse">
            <a:avLst/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19" name="Text 13"/>
          <p:cNvSpPr txBox="1"/>
          <p:nvPr/>
        </p:nvSpPr>
        <p:spPr>
          <a:xfrm>
            <a:off x="3977640" y="38862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20" name="Text 14"/>
          <p:cNvSpPr txBox="1"/>
          <p:nvPr/>
        </p:nvSpPr>
        <p:spPr>
          <a:xfrm>
            <a:off x="4526280" y="3886200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1B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Мало часов в день</a:t>
            </a:r>
            <a:endParaRPr lang="en-US" sz="1600" dirty="0"/>
          </a:p>
        </p:txBody>
      </p:sp>
      <p:sp>
        <p:nvSpPr>
          <p:cNvPr id="21" name="Text 15"/>
          <p:cNvSpPr txBox="1"/>
          <p:nvPr/>
        </p:nvSpPr>
        <p:spPr>
          <a:xfrm>
            <a:off x="3977640" y="4480560"/>
            <a:ext cx="21031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Поставили 2 часа в день, и календарь заполнился почти целиком.</a:t>
            </a:r>
            <a:endParaRPr lang="en-US" sz="1400" dirty="0"/>
          </a:p>
        </p:txBody>
      </p:sp>
      <p:sp>
        <p:nvSpPr>
          <p:cNvPr id="22" name="Shape 16"/>
          <p:cNvSpPr/>
          <p:nvPr/>
        </p:nvSpPr>
        <p:spPr>
          <a:xfrm>
            <a:off x="6192846" y="3813048"/>
            <a:ext cx="3296268" cy="2386584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</p:spPr>
      </p:sp>
      <p:pic>
        <p:nvPicPr>
          <p:cNvPr id="23" name="Image 3" descr="Скриншот программы: s4_risk_gantt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20278" y="3840480"/>
            <a:ext cx="3241404" cy="2331720"/>
          </a:xfrm>
          <a:prstGeom prst="rect">
            <a:avLst/>
          </a:prstGeom>
        </p:spPr>
      </p:pic>
      <p:sp>
        <p:nvSpPr>
          <p:cNvPr id="24" name="Shape 17"/>
          <p:cNvSpPr/>
          <p:nvPr/>
        </p:nvSpPr>
        <p:spPr>
          <a:xfrm>
            <a:off x="9646920" y="3886200"/>
            <a:ext cx="457200" cy="457200"/>
          </a:xfrm>
          <a:prstGeom prst="ellipse">
            <a:avLst/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25" name="Text 18"/>
          <p:cNvSpPr txBox="1"/>
          <p:nvPr/>
        </p:nvSpPr>
        <p:spPr>
          <a:xfrm>
            <a:off x="9646920" y="38862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600" dirty="0"/>
          </a:p>
        </p:txBody>
      </p:sp>
      <p:sp>
        <p:nvSpPr>
          <p:cNvPr id="26" name="Text 19"/>
          <p:cNvSpPr txBox="1"/>
          <p:nvPr/>
        </p:nvSpPr>
        <p:spPr>
          <a:xfrm>
            <a:off x="10195560" y="3886200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1B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Не успеваем</a:t>
            </a:r>
            <a:endParaRPr lang="en-US" sz="1600" dirty="0"/>
          </a:p>
        </p:txBody>
      </p:sp>
      <p:sp>
        <p:nvSpPr>
          <p:cNvPr id="27" name="Text 20"/>
          <p:cNvSpPr txBox="1"/>
          <p:nvPr/>
        </p:nvSpPr>
        <p:spPr>
          <a:xfrm>
            <a:off x="9646920" y="4480560"/>
            <a:ext cx="21031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 диаграмме красные строки, внизу предупреждение о темах под угрозой.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400800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4748B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E1B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Примеры ввода и вывода</a:t>
            </a:r>
            <a:endParaRPr lang="en-US" sz="3400" dirty="0"/>
          </a:p>
        </p:txBody>
      </p:sp>
      <p:graphicFrame>
        <p:nvGraphicFramePr>
          <p:cNvPr id="1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6766560" cy="914400"/>
        </p:xfrm>
        <a:graphic>
          <a:graphicData uri="http://schemas.openxmlformats.org/drawingml/2006/table">
            <a:tbl>
              <a:tblPr/>
              <a:tblGrid>
                <a:gridCol w="3017520"/>
                <a:gridCol w="3749040"/>
              </a:tblGrid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Ввод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B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B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B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B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1B4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Результат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B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B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B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B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1B4B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Экзамен «Математика», 11.10.2026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B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B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B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B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Добавлен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B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B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B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B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Экзамен с пустым названием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B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B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B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B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Укажите название экзамена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B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B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B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B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Дата «32.13.2026»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B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B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B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B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Дата должна быть в формате ДД.ММ.ГГГГ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B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B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B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B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Дата 20.09.2026 (прошла)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B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B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B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B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Дата должна быть в будущем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B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B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B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B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Сложность 9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B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B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B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B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Сложность должна быть от 1 до 5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B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B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B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B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«Введение в анализ», «авто»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B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B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B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B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Сложность 2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B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B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B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B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Повреждённый файл данных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B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B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B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B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Сообщение и копия .bak, программа работает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B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B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B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B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Shape 1"/>
          <p:cNvSpPr/>
          <p:nvPr/>
        </p:nvSpPr>
        <p:spPr>
          <a:xfrm>
            <a:off x="7882942" y="1344168"/>
            <a:ext cx="3463948" cy="2615184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</p:spPr>
      </p:sp>
      <p:pic>
        <p:nvPicPr>
          <p:cNvPr id="6" name="Image 0" descr="Скриншот программы: 03_dialo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910374" y="1371600"/>
            <a:ext cx="3409084" cy="2560320"/>
          </a:xfrm>
          <a:prstGeom prst="rect">
            <a:avLst/>
          </a:prstGeom>
        </p:spPr>
      </p:pic>
      <p:sp>
        <p:nvSpPr>
          <p:cNvPr id="7" name="Shape 2"/>
          <p:cNvSpPr/>
          <p:nvPr/>
        </p:nvSpPr>
        <p:spPr>
          <a:xfrm>
            <a:off x="7589520" y="4114800"/>
            <a:ext cx="4050792" cy="2011680"/>
          </a:xfrm>
          <a:prstGeom prst="rect">
            <a:avLst/>
          </a:prstGeom>
          <a:solidFill>
            <a:srgbClr val="E2E8F0"/>
          </a:solidFill>
          <a:ln w="12700">
            <a:solidFill>
              <a:srgbClr val="94A3B8"/>
            </a:solidFill>
            <a:prstDash val="dash"/>
          </a:ln>
        </p:spPr>
      </p:sp>
      <p:sp>
        <p:nvSpPr>
          <p:cNvPr id="8" name="Text 3"/>
          <p:cNvSpPr txBox="1"/>
          <p:nvPr/>
        </p:nvSpPr>
        <p:spPr>
          <a:xfrm>
            <a:off x="7589520" y="4114800"/>
            <a:ext cx="4050792" cy="2011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Здесь будет скриншот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04_error.png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400800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4748B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731520"/>
            <a:ext cx="10698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Итоги</a:t>
            </a:r>
            <a:endParaRPr lang="en-US" sz="44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2011680"/>
            <a:ext cx="1069848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54000" indent="-254000">
              <a:spcAft>
                <a:spcPts val="1200"/>
              </a:spcAft>
              <a:buSzPct val="100000"/>
              <a:buChar char="•"/>
            </a:pPr>
            <a:r>
              <a:rPr lang="en-US" sz="2200" dirty="0">
                <a:solidFill>
                  <a:srgbClr val="E0E7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Работает окно с календарём, диаграммой Ганта и сохранением данных</a:t>
            </a:r>
            <a:endParaRPr lang="en-US" sz="2200" dirty="0"/>
          </a:p>
          <a:p>
            <a:pPr marL="254000" indent="-254000">
              <a:spcAft>
                <a:spcPts val="1200"/>
              </a:spcAft>
              <a:buSzPct val="100000"/>
              <a:buChar char="•"/>
            </a:pPr>
            <a:r>
              <a:rPr lang="en-US" sz="2200" dirty="0">
                <a:solidFill>
                  <a:srgbClr val="E0E7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Ошибки, словари и ООП в деле, плюс визуализация и CSV</a:t>
            </a:r>
            <a:endParaRPr lang="en-US" sz="2200" dirty="0"/>
          </a:p>
          <a:p>
            <a:pPr marL="254000" indent="-254000">
              <a:buSzPct val="100000"/>
              <a:buChar char="•"/>
            </a:pPr>
            <a:r>
              <a:rPr lang="en-US" sz="2200" dirty="0">
                <a:solidFill>
                  <a:srgbClr val="E0E7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Дальше: редактирование записей, напоминания, экспорт в календарь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4480560"/>
            <a:ext cx="10698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Код: github.com/leywinkw/exam-planner</a:t>
            </a:r>
            <a:endParaRPr lang="en-US" sz="2000" dirty="0"/>
          </a:p>
        </p:txBody>
      </p:sp>
      <p:sp>
        <p:nvSpPr>
          <p:cNvPr id="5" name="Text 3"/>
          <p:cNvSpPr txBox="1"/>
          <p:nvPr/>
        </p:nvSpPr>
        <p:spPr>
          <a:xfrm>
            <a:off x="731520" y="512064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Спасибо за внимание! Вопросы?</a:t>
            </a:r>
            <a:endParaRPr lang="en-US" sz="3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18</Slides>
  <Notes>18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Планировщик подготовки к экзаменам</dc:title>
  <dc:subject>PptxGenJS Presentation</dc:subject>
  <dc:creator>Проект №60</dc:creator>
  <cp:lastModifiedBy>Проект №60</cp:lastModifiedBy>
  <cp:revision>1</cp:revision>
  <dcterms:created xsi:type="dcterms:W3CDTF">2026-10-29T21:18:40Z</dcterms:created>
  <dcterms:modified xsi:type="dcterms:W3CDTF">2026-10-29T21:18:40Z</dcterms:modified>
</cp:coreProperties>
</file>